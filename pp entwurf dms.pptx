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5" r:id="rId13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677"/>
  </p:normalViewPr>
  <p:slideViewPr>
    <p:cSldViewPr snapToGrid="0">
      <p:cViewPr>
        <p:scale>
          <a:sx n="134" d="100"/>
          <a:sy n="134" d="100"/>
        </p:scale>
        <p:origin x="142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ACF73E-A78E-8198-5DDD-29F186AC3F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8866967-CEEE-599E-2A5A-1C963AF898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8F942D1-D6FD-756C-1586-ED2DAC6E1E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BBD367-8A25-B287-7006-15C8A196D0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3E27EF-3A61-B062-A6DA-C65DE25FA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7178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2CEADE2-399D-03EA-4FF4-B52929D82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44BC71A-4A82-04E3-447B-7825C94A3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48483F-81ED-56FE-7716-3473C1FDD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9ED8C14-E69F-EF22-8896-76EC4F9D1D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77CBC76-F645-F47C-24D1-951D2C1CC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008752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45CF233-AF19-65D6-49C2-086B0F52F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CA388D7-2A3C-EA88-C954-BBB3D98133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F58264C-B913-C9C6-0DF1-BEA704265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54F0C10-0504-9B46-4F15-EAE528EE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3142B1B-94FF-1FAF-61A4-5ED0397BE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493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A73FE7-5B4A-B4AC-C83D-F89512D0A2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0ECC9176-AC04-6280-0035-20F890E127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DF5AD5-B970-0573-B260-B55834F536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4D0FE48-A169-2100-E8FF-72C647A366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064217C-AECD-3824-0062-2E9CED5D2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40B62BC-89C6-37F0-2D20-7948081CC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730300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99DC041-3DF0-0069-3200-49330E212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EB14F233-3CE5-557D-15EE-5C6905871B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76FCAB6-6340-753E-FA1E-AD58EB032B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C0A950A-C09E-C359-30F1-5A3E29FDB6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2139B3-77BD-405F-6E21-1833078258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2EC0F784-A6D7-291C-A383-A187D3AA10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A193A03-5D63-CDB5-DCB9-EC632940B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7DD8D0CD-457F-512A-DB18-38DE17DE9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15805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81773-C571-E483-01C5-189D73902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AEDE012B-4184-CC76-FA91-A21D6262FD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FBA2E602-0492-93DC-948A-ABFE72FD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DB1C02F7-91F4-E844-8961-E37FA4CCD7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0486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4BE5DCE-977D-21A5-B43F-00C37EED5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F74796D6-3320-2A2E-F45C-6BE24DA90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841A361-D84C-F6F7-A903-AED9F4063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57912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6CE351A-6014-0771-82E1-A0037B52CB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0FD669E-A69A-98AF-FFD7-EF6BDCF16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A929EF8E-0D98-2135-5063-9976D64FC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5465ED5-1B1F-50FF-21E7-2EC35D84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BC2443A-A048-2A9B-527D-874C72E47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9A10DEAE-2B7B-1FFA-D74D-A8ED8947D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955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C4AAD53-CFB9-8B00-7249-EF21B69B8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3FD5CE6-A7A3-11AC-7137-3674EBA9C8F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242F17B-291E-4F76-DCD5-E6A9308A83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2A38679-1DFD-79B0-B83F-C01129368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AD5005-9214-BA0B-2DB7-1486B81B1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6883CC6-FF99-CF73-F57D-9675694A2D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91385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82281B3-DB0C-E5EA-8FA2-FE67C774B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ED8337D-762C-F17A-7A41-27604428D3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1FD6E5D-F7D8-8493-56A0-84F12DD6C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8C7C3EC-3A35-4D5F-33B0-2DE0406F0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A1AF018-50EC-3387-9A77-2D1B266263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3207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E8201816-B704-1CC7-98C9-C689F17C6C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BBA0BE5-C293-21E4-B54F-0D5BF86FBF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DFBEB1B-1A3C-DBD7-693B-E13247B88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807F185-024A-AFA7-32BF-92D802B765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6922AF2-04B3-35FA-82B5-900EA927F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60786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E3F6B45A-C3A7-71F9-6E2B-31BDF9D422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132E173-9908-E622-E8D1-BBEDA9626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EBA536A-7DA3-E758-433D-1B60A1205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2F22150-3F90-3849-9712-D7C026343A63}" type="datetimeFigureOut">
              <a:rPr lang="de-DE" smtClean="0"/>
              <a:t>17.01.26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1595290-281A-365B-C78F-B99A1744D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16F07C0-4EDA-8FA6-080D-7434ACB216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AAA68E-35B5-BB4E-B279-5CD96BBF89C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543482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17C0FF-0AF2-535F-2378-170BA4DE956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e-DE" dirty="0"/>
              <a:t>Zeitreihenanalysen mit Börsendaten anhand des S&amp;P 500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24F1157-C5AA-77D5-8D93-4CD0CEC60D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 dirty="0"/>
              <a:t>Diskrete Mathematik &amp; Stochastik - Prof. Dr. Marina Arendt - WS 2025/26 - Alexander Eisner, Armann Grewal</a:t>
            </a:r>
          </a:p>
        </p:txBody>
      </p:sp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0FBDA582-48A1-D119-DEB5-9924EAA9CD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C8D7D759-765D-D9F7-D192-3CC990737F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33264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92267C0-5660-E9F8-923D-15516CFE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60179E90-4F50-3DCC-E347-D6B212E13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3" name="Grafik 2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3B50F975-5769-9966-B2B8-F7E7A7110D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727" y="1725"/>
            <a:ext cx="9694545" cy="6856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3770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323AA1-0C3E-8668-CC20-D58EDCABA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7C2A1137-58B2-5C68-E791-A2B6E88151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7D686E6E-6A0F-1F3C-B68E-7C265D606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11" name="Grafik 10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A3C7666E-37FA-E30F-CBE3-036468F945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516985" y="1106714"/>
            <a:ext cx="19225969" cy="13597186"/>
          </a:xfrm>
          <a:prstGeom prst="rect">
            <a:avLst/>
          </a:prstGeom>
        </p:spPr>
      </p:pic>
      <p:sp>
        <p:nvSpPr>
          <p:cNvPr id="12" name="Rechteck 11">
            <a:extLst>
              <a:ext uri="{FF2B5EF4-FFF2-40B4-BE49-F238E27FC236}">
                <a16:creationId xmlns:a16="http://schemas.microsoft.com/office/drawing/2014/main" id="{A3C35626-44EA-9491-D799-40B47179E06A}"/>
              </a:ext>
            </a:extLst>
          </p:cNvPr>
          <p:cNvSpPr/>
          <p:nvPr/>
        </p:nvSpPr>
        <p:spPr>
          <a:xfrm>
            <a:off x="-5029200" y="2382251"/>
            <a:ext cx="6352673" cy="7748337"/>
          </a:xfrm>
          <a:prstGeom prst="rect">
            <a:avLst/>
          </a:prstGeom>
          <a:noFill/>
          <a:ln w="285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609AAA4C-241E-36C5-435D-7C276BFA2B14}"/>
              </a:ext>
            </a:extLst>
          </p:cNvPr>
          <p:cNvSpPr/>
          <p:nvPr/>
        </p:nvSpPr>
        <p:spPr>
          <a:xfrm>
            <a:off x="-3516985" y="2382251"/>
            <a:ext cx="4840458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0B6C33CB-3342-B08B-2F2C-1BF8463D9732}"/>
              </a:ext>
            </a:extLst>
          </p:cNvPr>
          <p:cNvSpPr/>
          <p:nvPr/>
        </p:nvSpPr>
        <p:spPr>
          <a:xfrm>
            <a:off x="1323473" y="3826696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7DE31FE5-4490-1987-72E7-5CB1C2C154BE}"/>
              </a:ext>
            </a:extLst>
          </p:cNvPr>
          <p:cNvSpPr/>
          <p:nvPr/>
        </p:nvSpPr>
        <p:spPr>
          <a:xfrm>
            <a:off x="11089105" y="2382251"/>
            <a:ext cx="15039474" cy="144444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5819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EE4FF-E969-7582-3A62-9CCEC1CB3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EDB2ADF9-3947-4002-A25E-DD5F87F11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B631285-6CA8-89AC-58FE-8FA802871F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915E0F1B-A495-8571-693F-B7BD4ED7E6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50669" y="-35762"/>
            <a:ext cx="14969841" cy="10587124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7EAB59E-49AC-6B9C-714B-2AFB23589365}"/>
              </a:ext>
            </a:extLst>
          </p:cNvPr>
          <p:cNvSpPr/>
          <p:nvPr/>
        </p:nvSpPr>
        <p:spPr>
          <a:xfrm>
            <a:off x="6833936" y="2021305"/>
            <a:ext cx="15039474" cy="802851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6100746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55EE75-71CA-FE88-5BC6-B688C97CD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AC80C452-E9FC-3AEC-2389-85FA48358B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62670D9A-B0C7-85B7-CD2D-4DB0224E8F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F190DB7F-1092-0E0C-6BF2-B308316FD9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602404" y="691614"/>
            <a:ext cx="14969841" cy="10587124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9322DCE2-A5BA-BB07-5F90-8690E2B19F6D}"/>
              </a:ext>
            </a:extLst>
          </p:cNvPr>
          <p:cNvSpPr/>
          <p:nvPr/>
        </p:nvSpPr>
        <p:spPr>
          <a:xfrm>
            <a:off x="5005136" y="5622198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B829973-B78C-680F-6E9B-11D143E7444E}"/>
              </a:ext>
            </a:extLst>
          </p:cNvPr>
          <p:cNvSpPr/>
          <p:nvPr/>
        </p:nvSpPr>
        <p:spPr>
          <a:xfrm>
            <a:off x="-9841833" y="6166386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C3B8DEBE-EF90-EFAF-872F-BD65014CA735}"/>
              </a:ext>
            </a:extLst>
          </p:cNvPr>
          <p:cNvSpPr/>
          <p:nvPr/>
        </p:nvSpPr>
        <p:spPr>
          <a:xfrm>
            <a:off x="-10315076" y="2727051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6993592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CF35EC-3F80-18ED-0087-E5EC46FEF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670CC45C-551F-0A3C-B5D5-5A61DE43B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573BB543-CC1D-1417-37DD-FFB7628EC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D19FCFF8-6ADD-ED1D-81B5-885F76C3F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165045" y="0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B456041A-01D6-16F9-B758-0ACFF7B24B3E}"/>
              </a:ext>
            </a:extLst>
          </p:cNvPr>
          <p:cNvSpPr/>
          <p:nvPr/>
        </p:nvSpPr>
        <p:spPr>
          <a:xfrm>
            <a:off x="0" y="10569944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23B297A8-307E-F324-8996-E1A1760AE27C}"/>
              </a:ext>
            </a:extLst>
          </p:cNvPr>
          <p:cNvSpPr/>
          <p:nvPr/>
        </p:nvSpPr>
        <p:spPr>
          <a:xfrm>
            <a:off x="1665847" y="6713621"/>
            <a:ext cx="15039474" cy="4301393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F9302E15-E811-687A-0E26-FBEE6F097ED2}"/>
              </a:ext>
            </a:extLst>
          </p:cNvPr>
          <p:cNvSpPr/>
          <p:nvPr/>
        </p:nvSpPr>
        <p:spPr>
          <a:xfrm>
            <a:off x="-13373627" y="8485576"/>
            <a:ext cx="15039474" cy="2084367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92785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D3AB16-3FAB-3699-5BA2-FA57B28876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74829A2A-E320-71E4-900B-EB805E825F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C404E3D-A9A2-F4FD-B2F1-F6D38D45B5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EFD730BC-7640-2134-C422-8CE316D92B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1875" y="-6809874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5E0C6C53-0889-99DC-17BF-08B0E4DC00DC}"/>
              </a:ext>
            </a:extLst>
          </p:cNvPr>
          <p:cNvSpPr/>
          <p:nvPr/>
        </p:nvSpPr>
        <p:spPr>
          <a:xfrm>
            <a:off x="7459578" y="-260184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9809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43F730-79D6-BF0F-E0B5-F2DD15318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5DDEDDF9-5F98-B538-456B-8C4B1EA50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49847960-912E-4630-EABF-D27C17F9E0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8071D347-5138-63F5-8614-ADC14B4A982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924413" y="-5194074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2C137B3F-D2CB-37C4-A45F-FD5B22C15500}"/>
              </a:ext>
            </a:extLst>
          </p:cNvPr>
          <p:cNvSpPr/>
          <p:nvPr/>
        </p:nvSpPr>
        <p:spPr>
          <a:xfrm>
            <a:off x="1997240" y="5257800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591C91C2-5414-C093-DBE2-602F71322279}"/>
              </a:ext>
            </a:extLst>
          </p:cNvPr>
          <p:cNvSpPr/>
          <p:nvPr/>
        </p:nvSpPr>
        <p:spPr>
          <a:xfrm>
            <a:off x="11349355" y="-3838075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82582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F83928-96DD-904C-E8CB-B96331EDDC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182460D5-261F-6D9C-F3C8-50D8AD7EE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371BC952-1B4C-E4C3-695C-FF324E2E7E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3F05A463-F834-0FB9-7DFE-FCE724C17F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529729" y="-4764506"/>
            <a:ext cx="18522089" cy="13099381"/>
          </a:xfrm>
          <a:prstGeom prst="rect">
            <a:avLst/>
          </a:prstGeom>
        </p:spPr>
      </p:pic>
      <p:sp>
        <p:nvSpPr>
          <p:cNvPr id="3" name="Rechteck 2">
            <a:extLst>
              <a:ext uri="{FF2B5EF4-FFF2-40B4-BE49-F238E27FC236}">
                <a16:creationId xmlns:a16="http://schemas.microsoft.com/office/drawing/2014/main" id="{0E213A99-94A0-7799-A681-6F8F2156EE4E}"/>
              </a:ext>
            </a:extLst>
          </p:cNvPr>
          <p:cNvSpPr/>
          <p:nvPr/>
        </p:nvSpPr>
        <p:spPr>
          <a:xfrm>
            <a:off x="-4603884" y="5682689"/>
            <a:ext cx="15039474" cy="9095875"/>
          </a:xfrm>
          <a:prstGeom prst="rect">
            <a:avLst/>
          </a:prstGeom>
          <a:solidFill>
            <a:schemeClr val="dk1">
              <a:alpha val="25017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769604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B0F577-55D1-C8EE-3481-4F03AC78C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0002C231-1465-DA75-F085-77329FC1ED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05A5EAF7-6B11-B901-98DA-689E769FB2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1F98346A-9593-DA87-2CFE-03D2592DC0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563466" y="-8013032"/>
            <a:ext cx="18522089" cy="13099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97686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14EC54-4FCE-A36B-DD99-C1A225253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847718A5-20D8-CFA8-7014-DF463BA77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DB1551C4-135E-81EB-D6F9-72AC731A0A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pic>
        <p:nvPicPr>
          <p:cNvPr id="2" name="Grafik 1" descr="Ein Bild, das Text, Screenshot, Schrift, Dokument enthält.&#10;&#10;KI-generierte Inhalte können fehlerhaft sein.">
            <a:extLst>
              <a:ext uri="{FF2B5EF4-FFF2-40B4-BE49-F238E27FC236}">
                <a16:creationId xmlns:a16="http://schemas.microsoft.com/office/drawing/2014/main" id="{9201EC14-E09D-0CCD-188A-7988E3893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0697" y="0"/>
            <a:ext cx="969698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146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F4EB7-E7F8-5CBD-8621-3905A8D5F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Screenshot, Design, weiß enthält.&#10;&#10;KI-generierte Inhalte können fehlerhaft sein.">
            <a:extLst>
              <a:ext uri="{FF2B5EF4-FFF2-40B4-BE49-F238E27FC236}">
                <a16:creationId xmlns:a16="http://schemas.microsoft.com/office/drawing/2014/main" id="{3210738A-9DF2-E93F-4263-618CE9C8E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35590" y="5257800"/>
            <a:ext cx="4743450" cy="2647507"/>
          </a:xfrm>
          <a:prstGeom prst="rect">
            <a:avLst/>
          </a:prstGeom>
        </p:spPr>
      </p:pic>
      <p:pic>
        <p:nvPicPr>
          <p:cNvPr id="7" name="Grafik 6" descr="Ein Bild, das Schrift, Grafiken, Screenshot, Grafikdesign enthält.&#10;&#10;KI-generierte Inhalte können fehlerhaft sein.">
            <a:extLst>
              <a:ext uri="{FF2B5EF4-FFF2-40B4-BE49-F238E27FC236}">
                <a16:creationId xmlns:a16="http://schemas.microsoft.com/office/drawing/2014/main" id="{B8539FF4-5DDF-9863-ED71-EF6E486F46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2360" y="190474"/>
            <a:ext cx="1940560" cy="537235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77AE64D4-3DEC-94A7-7103-86EA7E9651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2065"/>
            <a:ext cx="9144000" cy="1753870"/>
          </a:xfrm>
        </p:spPr>
        <p:txBody>
          <a:bodyPr>
            <a:normAutofit/>
          </a:bodyPr>
          <a:lstStyle/>
          <a:p>
            <a:r>
              <a:rPr lang="de-DE" dirty="0"/>
              <a:t>Vielen Dank für Eure Aufmerksamkeit! </a:t>
            </a:r>
          </a:p>
        </p:txBody>
      </p:sp>
    </p:spTree>
    <p:extLst>
      <p:ext uri="{BB962C8B-B14F-4D97-AF65-F5344CB8AC3E}">
        <p14:creationId xmlns:p14="http://schemas.microsoft.com/office/powerpoint/2010/main" val="193038753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Microsoft Macintosh PowerPoint</Application>
  <PresentationFormat>Breitbild</PresentationFormat>
  <Paragraphs>3</Paragraphs>
  <Slides>12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</vt:lpstr>
      <vt:lpstr>Zeitreihenanalysen mit Börsendaten anhand des S&amp;P 500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Vielen Dank für Eure Aufmerksamkeit!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Alexander Eisner</dc:creator>
  <cp:lastModifiedBy>Alexander Eisner</cp:lastModifiedBy>
  <cp:revision>3</cp:revision>
  <dcterms:created xsi:type="dcterms:W3CDTF">2026-01-17T14:25:27Z</dcterms:created>
  <dcterms:modified xsi:type="dcterms:W3CDTF">2026-01-17T15:33:58Z</dcterms:modified>
</cp:coreProperties>
</file>